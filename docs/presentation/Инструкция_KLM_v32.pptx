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33a4277214fdc" /><Relationship Type="http://schemas.openxmlformats.org/officeDocument/2006/relationships/extended-properties" Target="/docProps/app.xml" Id="R2ceb2d71e611458c" /><Relationship Type="http://schemas.openxmlformats.org/officeDocument/2006/relationships/officeDocument" Target="/ppt/presentation.xml" Id="R569923104808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6de8145b1e4a0d"/>
  </p:sldMasterIdLst>
  <p:notesMasterIdLst>
    <p:notesMasterId xmlns:r="http://schemas.openxmlformats.org/officeDocument/2006/relationships" r:id="R763afb77e4874040"/>
  </p:notesMasterIdLst>
  <p:sldIdLst>
    <p:sldId xmlns:r="http://schemas.openxmlformats.org/officeDocument/2006/relationships" id="256" r:id="R901264bc73a34da6"/>
    <p:sldId xmlns:r="http://schemas.openxmlformats.org/officeDocument/2006/relationships" id="257" r:id="Rb905abf2c765483b"/>
    <p:sldId xmlns:r="http://schemas.openxmlformats.org/officeDocument/2006/relationships" id="258" r:id="R2875fb330dae4380"/>
    <p:sldId xmlns:r="http://schemas.openxmlformats.org/officeDocument/2006/relationships" id="259" r:id="Rd20243b2213f4018"/>
    <p:sldId xmlns:r="http://schemas.openxmlformats.org/officeDocument/2006/relationships" id="260" r:id="R05803ae07e0b4079"/>
    <p:sldId xmlns:r="http://schemas.openxmlformats.org/officeDocument/2006/relationships" id="261" r:id="R2689a3ace99d4ea1"/>
    <p:sldId xmlns:r="http://schemas.openxmlformats.org/officeDocument/2006/relationships" id="262" r:id="R7b7c2ff20e0a44ca"/>
    <p:sldId xmlns:r="http://schemas.openxmlformats.org/officeDocument/2006/relationships" id="263" r:id="R55cd58739aff4d90"/>
    <p:sldId xmlns:r="http://schemas.openxmlformats.org/officeDocument/2006/relationships" id="264" r:id="Rb1d905aead6c4af7"/>
    <p:sldId xmlns:r="http://schemas.openxmlformats.org/officeDocument/2006/relationships" id="265" r:id="R4af54fd5fc9e46cf"/>
    <p:sldId xmlns:r="http://schemas.openxmlformats.org/officeDocument/2006/relationships" id="266" r:id="R710942334a984cf6"/>
    <p:sldId xmlns:r="http://schemas.openxmlformats.org/officeDocument/2006/relationships" id="267" r:id="Rc0cbcfed25c64df1"/>
    <p:sldId xmlns:r="http://schemas.openxmlformats.org/officeDocument/2006/relationships" id="268" r:id="Rc56e33181a844bd3"/>
    <p:sldId xmlns:r="http://schemas.openxmlformats.org/officeDocument/2006/relationships" id="269" r:id="Rced3dab686084ec2"/>
    <p:sldId xmlns:r="http://schemas.openxmlformats.org/officeDocument/2006/relationships" id="270" r:id="R24b469480c17460c"/>
    <p:sldId xmlns:r="http://schemas.openxmlformats.org/officeDocument/2006/relationships" id="271" r:id="R0f576e1c421f43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800c48c3d546c5" /><Relationship Type="http://schemas.openxmlformats.org/officeDocument/2006/relationships/slideMaster" Target="/ppt/slideMasters/slideMaster1.xml" Id="Rbb6de8145b1e4a0d" /><Relationship Type="http://schemas.openxmlformats.org/officeDocument/2006/relationships/notesMaster" Target="/ppt/notesMasters/notesMaster1.xml" Id="R763afb77e4874040" /><Relationship Type="http://schemas.openxmlformats.org/officeDocument/2006/relationships/presProps" Target="/ppt/presProps.xml" Id="Rbcfcbf78a7784fde" /><Relationship Type="http://schemas.openxmlformats.org/officeDocument/2006/relationships/tableStyles" Target="/ppt/tableStyles.xml" Id="Rc1d9973228aa46c0" /><Relationship Type="http://schemas.openxmlformats.org/officeDocument/2006/relationships/slide" Target="/ppt/slides/slide1.xml" Id="R901264bc73a34da6" /><Relationship Type="http://schemas.openxmlformats.org/officeDocument/2006/relationships/slide" Target="/ppt/slides/slide2.xml" Id="Rb905abf2c765483b" /><Relationship Type="http://schemas.openxmlformats.org/officeDocument/2006/relationships/slide" Target="/ppt/slides/slide3.xml" Id="R2875fb330dae4380" /><Relationship Type="http://schemas.openxmlformats.org/officeDocument/2006/relationships/slide" Target="/ppt/slides/slide4.xml" Id="Rd20243b2213f4018" /><Relationship Type="http://schemas.openxmlformats.org/officeDocument/2006/relationships/slide" Target="/ppt/slides/slide5.xml" Id="R05803ae07e0b4079" /><Relationship Type="http://schemas.openxmlformats.org/officeDocument/2006/relationships/slide" Target="/ppt/slides/slide6.xml" Id="R2689a3ace99d4ea1" /><Relationship Type="http://schemas.openxmlformats.org/officeDocument/2006/relationships/slide" Target="/ppt/slides/slide7.xml" Id="R7b7c2ff20e0a44ca" /><Relationship Type="http://schemas.openxmlformats.org/officeDocument/2006/relationships/slide" Target="/ppt/slides/slide8.xml" Id="R55cd58739aff4d90" /><Relationship Type="http://schemas.openxmlformats.org/officeDocument/2006/relationships/slide" Target="/ppt/slides/slide9.xml" Id="Rb1d905aead6c4af7" /><Relationship Type="http://schemas.openxmlformats.org/officeDocument/2006/relationships/slide" Target="/ppt/slides/slide10.xml" Id="R4af54fd5fc9e46cf" /><Relationship Type="http://schemas.openxmlformats.org/officeDocument/2006/relationships/slide" Target="/ppt/slides/slide11.xml" Id="R710942334a984cf6" /><Relationship Type="http://schemas.openxmlformats.org/officeDocument/2006/relationships/slide" Target="/ppt/slides/slide12.xml" Id="Rc0cbcfed25c64df1" /><Relationship Type="http://schemas.openxmlformats.org/officeDocument/2006/relationships/slide" Target="/ppt/slides/slide13.xml" Id="Rc56e33181a844bd3" /><Relationship Type="http://schemas.openxmlformats.org/officeDocument/2006/relationships/slide" Target="/ppt/slides/slide14.xml" Id="Rced3dab686084ec2" /><Relationship Type="http://schemas.openxmlformats.org/officeDocument/2006/relationships/slide" Target="/ppt/slides/slide15.xml" Id="R24b469480c17460c" /><Relationship Type="http://schemas.openxmlformats.org/officeDocument/2006/relationships/slide" Target="/ppt/slides/slide16.xml" Id="R0f576e1c421f43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3c200fa3e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bcdbe8e124d94" /><Relationship Type="http://schemas.openxmlformats.org/officeDocument/2006/relationships/notesMaster" Target="/ppt/notesMasters/notesMaster1.xml" Id="R7ac6355f840f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2994c55d544e18" /><Relationship Type="http://schemas.openxmlformats.org/officeDocument/2006/relationships/notesMaster" Target="/ppt/notesMasters/notesMaster1.xml" Id="R5fe450f4b6c2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9957ed9e2a4408" /><Relationship Type="http://schemas.openxmlformats.org/officeDocument/2006/relationships/notesMaster" Target="/ppt/notesMasters/notesMaster1.xml" Id="Recb5ead460d84e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76ae4b4f24dd4" /><Relationship Type="http://schemas.openxmlformats.org/officeDocument/2006/relationships/notesMaster" Target="/ppt/notesMasters/notesMaster1.xml" Id="R24da41aed595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e254c90584bc5" /><Relationship Type="http://schemas.openxmlformats.org/officeDocument/2006/relationships/notesMaster" Target="/ppt/notesMasters/notesMaster1.xml" Id="R578b46eec93e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a7d4d655e4592" /><Relationship Type="http://schemas.openxmlformats.org/officeDocument/2006/relationships/notesMaster" Target="/ppt/notesMasters/notesMaster1.xml" Id="Rdf984536dddd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45ff459704fd3" /><Relationship Type="http://schemas.openxmlformats.org/officeDocument/2006/relationships/notesMaster" Target="/ppt/notesMasters/notesMaster1.xml" Id="Rf47536f7506942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288864c17a462a" /><Relationship Type="http://schemas.openxmlformats.org/officeDocument/2006/relationships/notesMaster" Target="/ppt/notesMasters/notesMaster1.xml" Id="Rb9e99b291ff148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eed011134f4815" /><Relationship Type="http://schemas.openxmlformats.org/officeDocument/2006/relationships/notesMaster" Target="/ppt/notesMasters/notesMaster1.xml" Id="R167eb545426448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a98372ab7349a2" /><Relationship Type="http://schemas.openxmlformats.org/officeDocument/2006/relationships/notesMaster" Target="/ppt/notesMasters/notesMaster1.xml" Id="Re8e3e5331d924c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af56a54b724c3c" /><Relationship Type="http://schemas.openxmlformats.org/officeDocument/2006/relationships/notesMaster" Target="/ppt/notesMasters/notesMaster1.xml" Id="R7724a8b4fc6f4f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13d1260f994f75" /><Relationship Type="http://schemas.openxmlformats.org/officeDocument/2006/relationships/notesMaster" Target="/ppt/notesMasters/notesMaster1.xml" Id="R8bf9e57a169746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6a582eb3604c75" /><Relationship Type="http://schemas.openxmlformats.org/officeDocument/2006/relationships/notesMaster" Target="/ppt/notesMasters/notesMaster1.xml" Id="R4c5bc939192e48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6a0311712a4bf1" /><Relationship Type="http://schemas.openxmlformats.org/officeDocument/2006/relationships/notesMaster" Target="/ppt/notesMasters/notesMaster1.xml" Id="R98e6e1d9f80846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e4483975e3415d" /><Relationship Type="http://schemas.openxmlformats.org/officeDocument/2006/relationships/notesMaster" Target="/ppt/notesMasters/notesMaster1.xml" Id="Rc9adb77f7a2b42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f3f9d2ee194813" /><Relationship Type="http://schemas.openxmlformats.org/officeDocument/2006/relationships/notesMaster" Target="/ppt/notesMasters/notesMaster1.xml" Id="R502f5a2ee918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вами обучающая инструкция по работе с системой KLM версии 32. Система объединяет расчёт себестоимости шинопровода, формирование ресурсной потребности, работу со складом, резервирование материалов и производственное планирование. В этой презентации мы пройдём основной рабочий путь сотрудника: от выбора проекта и загрузки спецификации до выгрузки Excel для снабжения. Важно соблюдать последовательность действий, потому что выбранный номинал, состав элементов и складской режим должны одинаково применяться во всех последующих разделах.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 строится по шести этапам. Сначала выбираем или создаём проект. Затем загружаем заказ на производство или предварительную спецификацию. После этого проверяем распознанные элементы и выполняем расчёт. Далее формируем потребность с учётом складских остатков и резервов. После проверки скачиваем Excel для снабжения. В завершение назначаем производственный приоритет и контролируем плановые даты. Если на любом этапе есть неподтверждённые данные, сначала устраняем замечания, а уже затем используем результат для закупки или производства.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Начинать работу удобнее с раздела объектов. Здесь видна очередь проектов, текущий приоритет, ответственный отдел, сотрудник и контрольная точка. Светлая и тёмная темы переключаются в правой верхней части страницы. Выбирайте тему, в которой хорошо различимы подписи, поля и кнопки. Новый заказ сначала находится без назначенного приоритета и ожидает постановки в очередь. До назначения приоритета плановые даты нельзя считать окончательными.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«Начинайте с проекта и очереди»,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калькулятор можно передать один заказ, несколько заказов или предварительные спецификации. Отметьте нужные документы галочками и нажмите кнопку расчёта выбранных спецификаций. При совместном расчёте одинаковые элементы объединяются по артикулу, проводности и размерам, а количество суммируется. Перед продолжением проверьте название проекта и перечень включённых заказов. Это особенно важно для Excel: в файле снабжения должны быть перечислены все заказы, вошедшие в общий расчёт.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«Рассчитывайте одну или несколько спецификаций»,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загрузки спецификации проверьте сценарий номинального тока. Исходный номинал сохраняет параметры заказа. Кнопка на один номинал ниже переводит, например, две тысячи ампер в тысячу шестьсот. Кнопка на два номинала ниже переводит тот же заказ в тысячу двести пятьдесят ампер. Пересчитывается не только цена шины. Меняются сечение и количество пакетов, боковины, профиль или лист, изоляция и все зависящие материалы. Выбранный сценарий должен затем перейти в потребность, резервирование и заказ материалов.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Каждая карточка элемента содержит тип, номинальный ток, проводность, артикул, параметры шин, размеры L1, L2, L3 и количество. Раскрывайте блок ресурсной спецификации и проверяйте потребность на один элемент и на всю строку. Если размер изменён вручную, система должна показать источник изменения. Нерассчитанная строка не должна попадать в итоговую стоимость как рассчитанная. Для прямых секций FE, ATSC и PI корпус может выполняться из подтверждённого профиля. Для непрямых элементов применяется лист согласно конструкторской документации.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«Проверяйте карточку каждого элемента»,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новой функции Excel можно выгружать ресурсы двумя способами. Первый способ — нажать кнопку выгрузки в карточке конкретного рассчитанного элемента. Второй — отметить несколько карточек флажком «В Excel» и скачать общую спецификацию выбранной группы. В файле создаются три листа: сводная ресурсная спецификация, перечень выбранных элементов и детализация ресурсов по каждому элементу. Одинаковые материалы объединяются, а количество, длина, масса и стоимость суммируются. Нерассчитанные элементы выбрать нельзя.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Стыковочный элемент G всегда является отдельным объектом расчёта. Его нельзя включать в FE, CD, CP, ZD, ZDP или другое семейство секций. Для стыка значения L1, L2 и L3 всегда равны нулю. При этом у него есть собственный номинал, проводность, артикул, количество и ресурсная спецификация по конструкторской документации. Стыки четырёхпроводного и пятипроводного исполнения рассчитываются раздельно. В пятипроводном варианте добавляется шина PE, но сам стык по-прежнему остаётся отдельной строкой.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проверки калькуляции переходите в раздел потребности и склада. Для совместного расчёта выберите необходимые заказы. Таблица должна показывать требуемое количество, общий складской остаток, резерв, свободный остаток, материалы в дороге, оплаченные позиции, производство у поставщика, доступное количество, дефицит и объём к заказу. Чужой резерв не считается свободным остатком. Кнопка выгрузки потребности формирует Excel с теми же показателями, чтобы данные на экране и в файле можно было сопоставить.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«Потребность учитывает склад и чужие резервы»,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формированием заказа материалов проверьте контрольный контур. В нём видно, какие документы относятся к проекту, какой приоритет склада установлен и какие позиции подтверждены правилами. Для снабжения доступны два режима: с учётом складских остатков и без учёта. Первый режим заказывает только дефицит. Второй показывает полную потребность проекта. В сравнительной таблице можно сопоставить несколько заказов, исходные номиналы и позиции для замены, а также оценить общий бюджет закупки.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«Перед закупкой проверьте контрольный контур»,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резервов закрепляет конкретный материал за конкретным проектом. В таблице проверяйте код 1С, материал, общий и свободный остаток, зарезервированное количество, проект, дату и источник операции. Зарезервированный материал автоматически исключается из доступного остатка других проектов. Перенос резерва выполняется только после явного подтверждения. Если у исходного проекта возникает дефицит, проект и материал подсвечиваются, причина фиксируется, а операция сохраняется в журнале.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«Резерв принадлежит конкретному проекту»,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Производственное планирование опирается на очередь объектов. Приоритет один является самым высоким. Кнопки вверх и вниз изменяют место проекта и запускают пересчёт последующих дат. Новый заказ без приоритета находится в конце очереди и визуально выделяется. Дата готовности рассчитывается из состава заказа, количества элементов, операций, подразделений, норм времени и доступной загрузки. Для производства используется календарь двенадцать часов в сутки, семь дней в неделю, при этом параллельные операции подразделений не должны складываться в один последовательный поток.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«Приоритет автоматически пересчитывает даты»,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Очередь параметризации показывает, какие позиции уже закрыты утверждёнными правилами, а какие требуют исходных данных. Агент сверки только анализирует и сообщает причину отсутствия расчёта. Он не должен самостоятельно придумывать формулы или подменять недостающие нормы. Для каждой нерассчитанной группы необходимо передать конструкторскую документацию, таблицу стандартных материалов и подтверждённые производственные нормы. После обновления правила результат сохраняется в истории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«Агент показывает, каких данных не хватает»,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Подбор КОМ и сменные задания относятся к последующим рабочим операциям. В подборе КОМ проверяются строки заказов, соответствие прайсу, цена с НДС, остаток и выбранный аналог. Несопоставленная позиция не должна автоматически получать случайный товар. В сменном задании указываются дата, цех, мастер, пост, работник, проект, задание, план и комментарий. Для производственного отдела рабочий день принят равным двенадцати часам. Фактическое выполнение и причины отклонений фиксируются в сменной ведомости.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Пользовательские скриншоты KLM v32: «Подбор КОМ» и «Сменные задания»,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управления правилами содержит финансовые параметры и утверждённые расчётные правила. Технологические потери по умолчанию равны одному проценту, надбавка вводится вручную, НДС может быть двадцать или ноль процентов. Изменение правила должно иметь понятное основание и сохраняться в истории. Особое внимание уделяйте боковинам: сначала определяется семейство элемента, затем номинал, размер шин и количество пакетов, после чего выбирается боковина высотой на три миллиметра больше шины. Только затем подставляется профиль или лист и код 1С.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Пользовательский скриншот KLM v32, раздел «Правила меняются только с подтверждённым основанием»,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использованием результата выполните финальную проверку. Убедитесь, что выбран правильный проект и перечислены все заказы. Проверьте сценарий номинала, проводность, размеры и количество элементов. Раскройте ресурсные спецификации, отдельно проверьте стыки G и нерассчитанные строки. Сопоставьте потребность со складом и резервами, выберите правильный режим закупки и только после этого выгружайте Excel. Плановые даты подтверждайте после назначения приоритета. Такой порядок сохраняет связь между расчётом, материалами, закупкой и производством и делает результат пригодным для аудита.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инструкция и утверждённые правила KLM v32, 07.09.2026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787e8a032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f92b7efa1c45e7" /><Relationship Type="http://schemas.openxmlformats.org/officeDocument/2006/relationships/slideLayout" Target="/ppt/slideLayouts/slideLayout1.xml" Id="R968aea2edee446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aea2edee446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456215bf344ae" /><Relationship Type="http://schemas.openxmlformats.org/officeDocument/2006/relationships/notesSlide" Target="/ppt/notesSlides/notesSlide1.xml" Id="R3447af60546f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1bf2d179446c8" /><Relationship Type="http://schemas.openxmlformats.org/officeDocument/2006/relationships/notesSlide" Target="/ppt/notesSlides/notesSlide2.xml" Id="Rdd0ffe1ab75d42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4fb0ae5df4b3b" /><Relationship Type="http://schemas.openxmlformats.org/officeDocument/2006/relationships/image" Target="/ppt/media/image.png" Id="R1382ea7156224d87" /><Relationship Type="http://schemas.openxmlformats.org/officeDocument/2006/relationships/notesSlide" Target="/ppt/notesSlides/notesSlide3.xml" Id="R37a5796c9708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96c9df4244dd2" /><Relationship Type="http://schemas.openxmlformats.org/officeDocument/2006/relationships/image" Target="/ppt/media/image2.png" Id="R3c2a1a6867ec454c" /><Relationship Type="http://schemas.openxmlformats.org/officeDocument/2006/relationships/notesSlide" Target="/ppt/notesSlides/notesSlide4.xml" Id="Rcb75556d6c2c4b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b764e19d442f7" /><Relationship Type="http://schemas.openxmlformats.org/officeDocument/2006/relationships/notesSlide" Target="/ppt/notesSlides/notesSlide5.xml" Id="R12a87657d268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6f6dbb40413d" /><Relationship Type="http://schemas.openxmlformats.org/officeDocument/2006/relationships/image" Target="/ppt/media/image3.png" Id="R69f4f853985343e6" /><Relationship Type="http://schemas.openxmlformats.org/officeDocument/2006/relationships/notesSlide" Target="/ppt/notesSlides/notesSlide6.xml" Id="R469fcf730a84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2b37219834a0f" /><Relationship Type="http://schemas.openxmlformats.org/officeDocument/2006/relationships/notesSlide" Target="/ppt/notesSlides/notesSlide7.xml" Id="Rd317d2e35dce4f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6488801844285" /><Relationship Type="http://schemas.openxmlformats.org/officeDocument/2006/relationships/notesSlide" Target="/ppt/notesSlides/notesSlide8.xml" Id="R2e4450c54268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e30ce204e4402" /><Relationship Type="http://schemas.openxmlformats.org/officeDocument/2006/relationships/image" Target="/ppt/media/image4.png" Id="R536c6d57b94c4c84" /><Relationship Type="http://schemas.openxmlformats.org/officeDocument/2006/relationships/notesSlide" Target="/ppt/notesSlides/notesSlide9.xml" Id="Rff7204da635344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b6b95a5e4817" /><Relationship Type="http://schemas.openxmlformats.org/officeDocument/2006/relationships/image" Target="/ppt/media/image5.png" Id="R25d0c8fa475c486a" /><Relationship Type="http://schemas.openxmlformats.org/officeDocument/2006/relationships/notesSlide" Target="/ppt/notesSlides/notesSlide10.xml" Id="R16e3124050c944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73a6b7fe64e7b" /><Relationship Type="http://schemas.openxmlformats.org/officeDocument/2006/relationships/image" Target="/ppt/media/image6.png" Id="R79dcd0b577904aec" /><Relationship Type="http://schemas.openxmlformats.org/officeDocument/2006/relationships/notesSlide" Target="/ppt/notesSlides/notesSlide11.xml" Id="Rcd960cfe058b41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bafa5efbb433a" /><Relationship Type="http://schemas.openxmlformats.org/officeDocument/2006/relationships/image" Target="/ppt/media/image7.png" Id="Ra466c7e905ba452b" /><Relationship Type="http://schemas.openxmlformats.org/officeDocument/2006/relationships/notesSlide" Target="/ppt/notesSlides/notesSlide12.xml" Id="R9292171c092f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f6f6ad95b4db2" /><Relationship Type="http://schemas.openxmlformats.org/officeDocument/2006/relationships/image" Target="/ppt/media/image8.png" Id="R46ca45d50ebe4dc4" /><Relationship Type="http://schemas.openxmlformats.org/officeDocument/2006/relationships/notesSlide" Target="/ppt/notesSlides/notesSlide13.xml" Id="Rcd6d3e9a598f42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73e90384741d5" /><Relationship Type="http://schemas.openxmlformats.org/officeDocument/2006/relationships/image" Target="/ppt/media/image9.png" Id="R6aff663f63a647a0" /><Relationship Type="http://schemas.openxmlformats.org/officeDocument/2006/relationships/image" Target="/ppt/media/image10.png" Id="R985d5f456c224528" /><Relationship Type="http://schemas.openxmlformats.org/officeDocument/2006/relationships/notesSlide" Target="/ppt/notesSlides/notesSlide14.xml" Id="Re4b6000eca7a41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1393ced94ff3" /><Relationship Type="http://schemas.openxmlformats.org/officeDocument/2006/relationships/image" Target="/ppt/media/image11.png" Id="Ree1e8818bb4b4ebe" /><Relationship Type="http://schemas.openxmlformats.org/officeDocument/2006/relationships/notesSlide" Target="/ppt/notesSlides/notesSlide15.xml" Id="Re16ac2db1dee4a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60f9072004b14" /><Relationship Type="http://schemas.openxmlformats.org/officeDocument/2006/relationships/notesSlide" Target="/ppt/notesSlides/notesSlide16.xml" Id="Rbefdf737eb3d40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84758-19BF-4548-BE47-DE7D567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KLM · ЕДИНАЯ СИСТЕМА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8EF7-96A1-47E7-9B1D-C9DAC6C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9906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Работа с KLM v32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323DC-7C2B-41CE-A33F-2BB265C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57625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От расчёта элементов до закупки, резервов и производственного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42BDD-EE4A-4326-BB1C-642A62D9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Обучающая презентация · версия 1.0 · 07.09.2026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1420F-6CA4-4462-8A13-FD7CF9F5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666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EDDFD-BBE6-4B50-B4AC-E6D950C3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429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A17"/>
                </a:solidFill>
                <a:latin typeface="Arial"/>
                <a:ea typeface="Arial"/>
                <a:cs typeface="Arial"/>
              </a:rPr>
              <a:t>ПБ</a:t>
            </a:r>
          </a:p>
        </p:txBody>
      </p:sp>
    </p:spTree>
    <p:extLst>
      <p:ext uri="{BB962C8B-B14F-4D97-AF65-F5344CB8AC3E}">
        <p14:creationId xmlns:p14="http://schemas.microsoft.com/office/powerpoint/2010/main" val="924496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7531A-26D3-463B-A27C-ABA6E74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238F4-9E15-4D04-AAC3-1944D9D5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Весь рабочий путь — в шести шагах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45A27-1419-4B3D-8E86-699A8FD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B048A-7B8E-4112-B178-7AEF9624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93452-B7D0-49F5-BD6B-16A17E4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FDA61-E8EF-4401-8232-1F7DE97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Выбрать проект и очередь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DBEE0-93BE-43A6-9033-EEF79C5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50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E9E4F-DCE0-494A-9250-21DCEEE3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3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5AED0-DA94-4E97-AE9A-CB3C99D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Загрузить спецификации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FFD3D-0373-4917-8554-8D6FC60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B6944-D618-4C66-88BF-63F83DE4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3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FE0B6-E0A2-4F9A-B55C-7E75381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Проверить расчёт и номинал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07A2-88C0-415C-97AC-7ECA6E9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4D516-8126-44DA-8C1D-BEDAFA9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3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4DDE1-4C66-42FE-AC3E-4179359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Сформировать потребность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AD0EF-1DD6-4A8A-90A2-42B25B71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9102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8CFDC-ACC1-4B92-96C5-3F2F7FD0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3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12231-242B-4CA2-9591-48D92EFE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Выгрузить Excel для снабжения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D2AE1-4A35-4128-8198-451FD36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8FBC5-C5DC-4BCC-AE98-E83E010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3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7EA4E-4D11-4807-8DC7-A47B251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482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Назначить производство и контролировать сроки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66C62-F116-4D70-9BEE-A0BFC3B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solidFill>
              <a:srgbClr val="B8C2B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62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6A2C9-3B23-4A83-8765-3E77C6C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CD3E-7558-4F5A-B674-0BF40AFA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Начинайте с проекта и очереди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E5C8A-F8AE-4494-9178-9D47DD9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0E0D3-A823-4CE7-9376-60CF140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DA34D-6F1E-440E-B8C4-B3A26ABB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Очередь связывает расчёт с фактическим прохождением проекта.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E7F2-3012-481D-A10D-9755A83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EF734-1459-4713-AB0C-A6AAA33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Проверьте название и источник заказа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92D6C-F32F-4A47-BAC6-8EC5677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6C8AC-F9AF-49BA-A80E-DD0D365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Назначьте приоритет: 1 — самый высокий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C3B2C-B254-4BB5-8A2A-032A760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C88DE-A9C7-426E-8247-63F81B58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Новый заказ без приоритета остаётся выделенным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49D93-0FDB-4216-97A5-F59CA873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5D37E-CE47-4BED-BC22-55182ED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Плановые даты зависят от очереди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DCBDC-A9F2-4B37-A5E6-A96BF01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2ea7156224d87"/>
          <a:stretch xmlns:a="http://schemas.openxmlformats.org/drawingml/2006/main"/>
        </p:blipFill>
        <p:spPr>
          <a:xfrm xmlns:a="http://schemas.openxmlformats.org/drawingml/2006/main">
            <a:off x="6477000" y="2143335"/>
            <a:ext cx="5238750" cy="335238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1514606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6C818-0226-40F8-B76C-A54ED3AC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B3F11-F0FE-42DA-AE55-3049D79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Рассчитывайте одну или несколько спецификаций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0BBDB-663E-4955-B6FD-D371B0E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372FB-0313-4F42-A337-C8C8D1C1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4823D-6DAF-429A-9FA8-8F8055FE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Совместный расчёт объединяет повторяющиеся элементы и сохраняет состав заказов.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CCF9C-3CBB-4199-9C05-F0056F5C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961DA-29AC-485B-BA38-7DA5EBE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Отметьте нужные документы галочками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4F0EA-0787-48A4-9E77-9B71B5B2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846BF-3337-45D9-B82E-64A75A3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Нажмите «Рассчитать выбранные»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7661B-088B-4E18-A286-504ACA1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1B2F6-E211-44AD-B978-D9EA31AC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Проверьте список включённых заказов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854C-91A1-4D1E-B5A0-2684850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50657-D561-4EE9-8422-048EEF2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Не меняйте порядок строк калькулятора вручную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0519B-F4CF-4A85-9E55-ED02083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a1a6867ec454c"/>
          <a:stretch xmlns:a="http://schemas.openxmlformats.org/drawingml/2006/main"/>
        </p:blipFill>
        <p:spPr>
          <a:xfrm xmlns:a="http://schemas.openxmlformats.org/drawingml/2006/main">
            <a:off x="476250" y="2492809"/>
            <a:ext cx="5238750" cy="2653431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741939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C3FC4-0371-42A7-9D20-8CA294B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НОМИНАЛ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5420C-5B06-4981-AE66-B9D207C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Выбранный номинал меняет весь ресурсный состав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BFB7D-223D-4C1B-834D-0F1E564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D5960-FB7B-4D2D-A960-B66755A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C60A9-02C3-4596-8EAF-C52BB138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Пример для заказа 2000 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83FAB-014D-4549-8FE8-97A4965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Исходный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02DD5-B6DE-44DD-B425-24091EF3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2000 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BCF7-79B8-40AB-A131-5874C6A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59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3C4BB-1524-4909-83C1-FA62185C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На один ниже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22D8A-A0A5-4466-A214-ACE7945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1600 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4F59F-B1BA-4545-8BE5-DEC3C47D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59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A4366-8832-45D8-965F-731148A6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На два ниже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280B1-084A-4EB5-B982-1AB1CC98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1250 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FFFCD-7D6C-45EF-B5D9-3ABC1327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148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Пересчитываются шины, пакеты, боковины, профиль или лист, изоляция, потребность, резерв и заказ материалов.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45D06-F51C-4CAB-BF59-FCB2F271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62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Сценарий должен оставаться единым во всех разделах.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6621C-9948-44DD-821C-903AA74B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70484-1C64-46BD-A2DF-90CBFDD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7414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C8E44-CC70-43D3-8C55-03A526D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BEB3C-F46F-4907-9D19-9A0E0DAB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Проверяйте карточку каждого элемента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5F04B-75AD-41CA-96D9-6E6C05C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F0BF8-C93A-4384-89B1-EFE154F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CF330-9A30-4FAE-8886-8D5CF12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Карточка — источник параметров и ресурсной спецификации.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C3F36-4804-466F-8C8E-E23E72A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8E941-377D-4E10-8220-5D01109D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Тип, номинал, проводность и артикул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299C9-1A30-4442-8345-7B74D46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673B6-8686-49D1-909F-F1A3415B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Шина и L1/L2/L3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AB734-A194-4F4D-9769-9C09B3EC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9DAB8-AD1B-4D23-B671-7C97C2CC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Количество на строку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6CBBC-7AB7-450A-98B1-E0FDC94B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FC99B-761B-4ED9-B13E-F00290D6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Стоимость и ресурсы на один элемент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9AC66-67A5-46D0-8BA1-EAE582E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4f853985343e6"/>
          <a:stretch xmlns:a="http://schemas.openxmlformats.org/drawingml/2006/main"/>
        </p:blipFill>
        <p:spPr>
          <a:xfrm xmlns:a="http://schemas.openxmlformats.org/drawingml/2006/main">
            <a:off x="6477000" y="2167353"/>
            <a:ext cx="5238750" cy="3304345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580071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A07D3-8ECC-4790-A1CC-C5904EF5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НОВАЯ ФУНКЦИЯ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3643E-F4F1-4D3E-A65C-5F21602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0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Excel выгружается по одному элементу или по выбранной группе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2EC0D-F1F2-4BB2-BC53-A59D758B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00024-9B73-4E41-80A5-C0CB0039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2DC9C-05C0-4C5A-967D-1E9B36C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E32BA-997C-43CD-AA4B-CB479D3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Один элемент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333C0-6671-43FE-A96D-14B9653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Откройте карточку и нажмите «Выгрузить Excel».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E0210-FD83-4309-92E0-937D1F5D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47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168C-387D-457E-BECA-793AC75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Несколько элементов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6706C-6AD8-4733-81DB-87FC88A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Отметьте флажки «В Excel» и выгрузите выбранные.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7AE98-C094-4A01-B080-F96C3B43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48A5A-9A47-4860-A6F7-0E9869C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Состав файла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3725B-3FA6-4BBC-BC98-EC86FFE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Сводная спецификация, перечень элементов и детализация.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22A3C-12C0-437E-A59F-C48329BE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13157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A17"/>
          </a:solidFill>
          <a:ln xmlns:a="http://schemas.openxmlformats.org/drawingml/2006/main" w="9525">
            <a:solidFill>
              <a:srgbClr val="141A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8515A-99AF-4032-95BB-835D14C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Одинаковые материалы объединяются; количество, длина, масса и стоимость суммируются.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F0695-BEEA-4AA6-B7D7-FF6F5FE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11161-03B6-498B-91DB-5F7FEB8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5814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34DE1-1565-48E4-9D58-4EEAB10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СТЫКОВОЧНЫЙ ЭЛЕМЕНТ 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29DC-9BAB-41D4-A9E1-24E0B0B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 — отдельный элемент,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 не часть секции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A65B8-E0C4-4F32-8FC1-253058C8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18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L1 = 0   ·   L2 = 0   ·   L3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C1EB-09EB-4D55-B1A6-60329C0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5A843-4422-4AC1-9C12-988877C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Собственные номинал и проводность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84E50-E225-4F30-B5E3-C9FB06D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145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EDF5A-575E-4230-82AB-9B46FDE0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Собственный артикул и количество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21A89-D7D9-49DA-B854-14C40DB9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527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37951-367B-421E-BBC4-5158C8BF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Собственная ресурсная спецификация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B55C3-FF9D-4408-A15D-01D8BE1D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909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4C96E-F816-4B68-99AF-7B0FAC9D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4P и 5P рассчитываются раздельно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31541-5126-4C0F-8E6C-53D5A46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включать в FE, CD, CP, ZD, ZDP и другие семейства.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60B95-AC05-486E-B2F3-964F6B8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5766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DFDD1-49F0-4F48-BBF0-A5655F4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649D7-5E8F-4475-8F22-5667C07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Потребность учитывает склад и чужие резервы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0947D-3DDA-4A69-AE54-0D0F6EFD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F27B5-C4F4-4379-A45E-5F3DFF8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5059F-5C04-4782-864A-F62EA98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Потребность — это не просто сумма спецификаций.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0687F-DB59-434B-B1D1-42A79CA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1C09-CC54-46E4-8E65-5424F15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Требуется и находится на складе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9CA22-1CAB-40D1-8BC7-2389820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47964-5B99-40BD-B175-E0C7609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Зарезервировано и свободно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F49F4-6B88-4DC8-881D-169E5A1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92857-3C31-4001-A442-04CFC7F1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В дороге, оплачено, у поставщика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F0AD-64B6-4264-8421-EEB2CB75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A7B32-7C2B-4697-94C0-001E762B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Дефицит и требуется заказать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C5694-1D0C-4878-A4D9-BECABD1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c6d57b94c4c84"/>
          <a:stretch xmlns:a="http://schemas.openxmlformats.org/drawingml/2006/main"/>
        </p:blipFill>
        <p:spPr>
          <a:xfrm xmlns:a="http://schemas.openxmlformats.org/drawingml/2006/main">
            <a:off x="476250" y="2686338"/>
            <a:ext cx="5238750" cy="2266373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71519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2EA89-6EC4-4BE2-BDDE-CC046265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97DCB-107E-4A87-AB47-01C1A707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Перед закупкой проверьте контрольный контур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79B9F-B0CB-4360-8151-E1A5ADD8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FFBC1-7C1C-457A-A44C-FF4B5C2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249F2-75C3-491F-8BDD-B29B678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Режим закупки определяет, что попадёт в Excel для снабжения.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C884C-703F-40D1-BF60-E4695709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FC043-81E7-49E6-8579-ECC7137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С учётом склада — заказывается дефицит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B90F4-C139-479F-89CB-D326A15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B8ED-2D12-444E-97DB-B6FE6862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Без учёта склада — полная потребность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7E056-E69E-48AD-87B1-2356E46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651CD-F34D-4268-8EDD-9CAFFBEB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Перечислите все включённые заказы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706A2-BDD2-4646-8D79-49DC3CC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927EA-F2FD-4F8E-903B-FDF6061E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Отдельно фиксируйте позиции для замены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A05B9-ECAB-4089-8FD3-CD16DB2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0c8fa475c486a"/>
          <a:stretch xmlns:a="http://schemas.openxmlformats.org/drawingml/2006/main"/>
        </p:blipFill>
        <p:spPr>
          <a:xfrm xmlns:a="http://schemas.openxmlformats.org/drawingml/2006/main">
            <a:off x="6477000" y="2304651"/>
            <a:ext cx="5238750" cy="3029749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15117943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5317F-BAB8-4B42-9E7C-9395E9B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5625C-EB6D-4C3D-A6A8-EFCEE92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Резерв принадлежит конкретному проекту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19F6D-1587-437A-8DC9-ABD26D00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45FCD-B899-478B-9D97-9B8F770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5448D-2597-49A0-A62B-62B2F26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Чужой резерв нельзя автоматически использовать для другого заказа.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34D49-2DA1-448E-8049-005ED38D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53145-5217-4572-A507-6F1D35F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Проверяйте код 1С и свободный остаток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C0FCF-8614-4B5D-BDDF-D8D5A638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CE81C-71C6-491A-85E9-E8FBE1A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Перенос — только после подтверждения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44133-B35F-4194-9317-38A39EDB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6D920-B889-4A9E-AF69-75D0D523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Дефицит подсвечивается красным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DA5D-DB03-4A1B-B2A1-1A17344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C2545-23E3-463D-B441-E61CF60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Каждая операция сохраняется в журнале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BC334-F72E-486C-B9A3-23090B42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cd0b577904aec"/>
          <a:stretch xmlns:a="http://schemas.openxmlformats.org/drawingml/2006/main"/>
        </p:blipFill>
        <p:spPr>
          <a:xfrm xmlns:a="http://schemas.openxmlformats.org/drawingml/2006/main">
            <a:off x="476250" y="2899080"/>
            <a:ext cx="5238750" cy="1840889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189012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09550-4992-471B-8E2D-3C946F3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DE879-865C-4691-BFC1-BE95D4D8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Приоритет автоматически пересчитывает даты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DCE3A-6FF9-4857-86AA-62395EC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00C70-F77F-486F-8A59-FB641A4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B0CE-E6DF-46E4-A183-B73BDCD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Очередь учитывает нормы, подразделения и параллельные операции.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5F3C4-186B-41EA-BED8-FAB024C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3E558-AD86-4100-AF8E-433B26FB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Приоритет 1 — самый высокий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127CF-DA03-4157-984C-5C9926E3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5BFD5-E33D-4F38-89CD-C8B69B34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Производство: 12 часов × 7 дней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619A5-3358-4414-B228-2B643E4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CB39A-A532-4D0B-BC7A-4153A16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Вверх или вниз — пересчёт последующих заказов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1CF1C-7DD8-40B8-AEA0-8347413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B1B7B-F884-42F7-8D7A-27D452B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Без приоритета — ожидание постановки в очередь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E2681-D353-44E2-BD35-EFF216BE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6c7e905ba452b"/>
          <a:stretch xmlns:a="http://schemas.openxmlformats.org/drawingml/2006/main"/>
        </p:blipFill>
        <p:spPr>
          <a:xfrm xmlns:a="http://schemas.openxmlformats.org/drawingml/2006/main">
            <a:off x="6477000" y="2186969"/>
            <a:ext cx="5238750" cy="3265112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244339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153C7-0607-4A51-8019-561DE19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F2B1E-444C-49BB-85C0-58BEC96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Агент показывает, каких данных не хватает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93BA3-33FA-49D5-997B-D08D8D0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592E8-83DF-44AD-AC10-5FB62DA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C293B-5931-48BA-AA91-26EEFB3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Автоматическая сверка не заменяет утверждённое правило.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054A4-084C-4724-8C35-2BE54F5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F6126-B0C0-453F-8A60-53B898D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Рассчитанные и нерассчитанные группы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102BB-4DA1-48E1-8EC3-7193126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1CFF4-C824-4D8C-87FF-2D48D7AB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Причина отсутствия расчёта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D1524-C843-483E-9B94-5953646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0215-468D-4B2E-9629-80AD6C7D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Какие КД и нормы нужно предоставить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0E816-4109-4FAD-8C74-3D76006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2E311-D87B-487C-BB4F-66D6102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История изменений сохраняется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0488D-9BDF-4D91-95B2-0EED3CDF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a45d50ebe4dc4"/>
          <a:stretch xmlns:a="http://schemas.openxmlformats.org/drawingml/2006/main"/>
        </p:blipFill>
        <p:spPr>
          <a:xfrm xmlns:a="http://schemas.openxmlformats.org/drawingml/2006/main">
            <a:off x="476250" y="2530082"/>
            <a:ext cx="5238750" cy="2578885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2017296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6AF06-0498-464D-B921-BDC5DE7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ПРОИЗВОДСТВО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67669-2E37-4B20-92DD-ECC5FA9A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КОМ и сменные задания закрывают рабочий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6B806-EEE9-48F7-ADDB-C79EA2C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7C53E-3CCB-49CF-99DE-8E19363A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41AE2-C888-4318-9E45-A6AB0D5B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Подбор 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97A71-791F-4485-8A2D-1E1CACF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1200"/>
            <a:ext cx="5429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f663f63a647a0"/>
          <a:stretch xmlns:a="http://schemas.openxmlformats.org/drawingml/2006/main"/>
        </p:blipFill>
        <p:spPr>
          <a:xfrm xmlns:a="http://schemas.openxmlformats.org/drawingml/2006/main">
            <a:off x="476250" y="2176463"/>
            <a:ext cx="5314950" cy="3038475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EE3FA-4DD2-4C51-AF61-694DEF97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Сменное задание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77DA2-9268-494C-96B1-2733D872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55054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5f456c224528"/>
          <a:stretch xmlns:a="http://schemas.openxmlformats.org/drawingml/2006/main"/>
        </p:blipFill>
        <p:spPr>
          <a:xfrm xmlns:a="http://schemas.openxmlformats.org/drawingml/2006/main">
            <a:off x="6574726" y="2038350"/>
            <a:ext cx="4814697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AF689-3BDA-4EE2-83F2-49CA59BC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Несопоставленные позиции не подменяются автоматически.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A6749-26B3-4601-A5CF-F6CE6321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57850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План, факт и причины отклонений сохраняются.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CC1F7-9220-4E34-BA49-4482B278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DDC60-7C80-4A2D-A8B9-09DBD35A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21180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2588-7A5D-4B84-9567-7E9E9EC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13FB4-014C-4FD8-9EA2-63E283D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1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Правила меняются только с подтверждённым основанием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ADF1-DFE1-43B0-A3BC-3D259893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63501-BEDE-49DE-BE16-09847B85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EE9CC-218D-4052-BC8E-965D14E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Расчёт должен оставаться воспроизводимым и проверяемым.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47CFE-5C51-4B24-BBC0-EF3720A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F45DB-E441-4DCA-9039-B0B4EDE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Потери, надбавка и НДС — управляемые параметры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DF43D-E93A-47B7-B4C2-2C825B2F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CB5A3-FB69-413E-8CB3-46AE3D59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Правила имеют статус и источник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C9B29-A1EC-4FC1-9145-3EC18B3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A225A-DB7D-45E6-8602-466AC10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Боковина выбирается после шины и пакетов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5BF1C-BBC4-4793-96B3-5B7FF4C0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3533A-0822-4001-AE86-C555483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Все изменения сохраняются для аудита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411F2-53A5-4505-9701-2F5CAE16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3530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e8818bb4b4ebe"/>
          <a:stretch xmlns:a="http://schemas.openxmlformats.org/drawingml/2006/main"/>
        </p:blipFill>
        <p:spPr>
          <a:xfrm xmlns:a="http://schemas.openxmlformats.org/drawingml/2006/main">
            <a:off x="6477000" y="1896641"/>
            <a:ext cx="5238750" cy="3845767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5839450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4CD63-1759-4BE5-A8B7-56991B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D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D000"/>
                </a:solidFill>
                <a:latin typeface="Arial"/>
                <a:ea typeface="Arial"/>
                <a:cs typeface="Arial"/>
              </a:rPr>
              <a:t>ФИНАЛЬНАЯ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5005-64C7-46F7-A66F-8E543290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Перед выгрузкой убедитесь,</a:t>
            </a:r>
          </a:p>
          <a:p xmlns:a="http://schemas.openxmlformats.org/drawingml/2006/main">
            <a:pPr algn="l">
              <a:defRPr sz="345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что весь расчёт согласован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0170E-E7C0-4C79-B900-62954E40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717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BD12F-A8A2-4DCD-80FF-73C1DE5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Выбран правильный проект и перечислены все заказы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DF9BE-3E4C-49EB-BFE3-8A6A9875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13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A5B6D-CA33-49E6-B8A0-3B244542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Номинал, проводность, размеры и количество проверены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ECD4C-E1EE-470B-A57B-9BEFACA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909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04F20-6E48-41B2-A238-DA1AE4C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Стыки G отделены, нерассчитанные строки устранены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A947E-EC72-48A0-B19C-727C751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005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F7BA2-72DA-4CFD-8358-4098DF4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Складской режим, резервы и Excel соответствуют сценарию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7D1E2-A4C3-4636-9934-04043B7D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01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ECD03-3DE9-463C-BCE6-0D727A52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914"/>
                </a:solidFill>
                <a:latin typeface="Arial"/>
                <a:ea typeface="Arial"/>
                <a:cs typeface="Arial"/>
              </a:rPr>
              <a:t>Приоритет назначен, плановые даты пересчитаны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05647-7F16-42E4-A63E-1F02013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1315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D000"/>
          </a:solidFill>
          <a:ln xmlns:a="http://schemas.openxmlformats.org/drawingml/2006/main" w="9525">
            <a:solidFill>
              <a:srgbClr val="8BD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0EC95-8F06-4A58-BDF3-5D59BA22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00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914"/>
                </a:solidFill>
                <a:latin typeface="Arial"/>
                <a:ea typeface="Arial"/>
                <a:cs typeface="Arial"/>
              </a:rPr>
              <a:t>https://klm-v32.bannikov-06.workers.dev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B89E3-A360-4887-AF32-DD24F09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KLM v32 · klm-v32.bannikov-06.workers.dev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A9955-19B5-40D0-A61B-96C3AC3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5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0897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2026-09-07T11:56:32.2660000Z</dcterms:created>
  <dcterms:modified xsi:type="dcterms:W3CDTF">2026-09-07T11:56:32.2660000Z</dcterms:modified>
</coreProperties>
</file>